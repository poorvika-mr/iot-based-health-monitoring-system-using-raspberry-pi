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23" r:id="rId3"/>
    <p:sldId id="290" r:id="rId4"/>
    <p:sldId id="317" r:id="rId5"/>
    <p:sldId id="320" r:id="rId6"/>
    <p:sldId id="319" r:id="rId7"/>
    <p:sldId id="318" r:id="rId8"/>
    <p:sldId id="321" r:id="rId9"/>
    <p:sldId id="322" r:id="rId10"/>
    <p:sldId id="287" r:id="rId11"/>
    <p:sldId id="3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7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6660E4-7FA6-4A8A-9FD0-A38A6D6056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57958-CA2F-4BFE-9253-47043F75E6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67D01-8A76-4862-844A-5252E333A848}" type="datetimeFigureOut">
              <a:rPr lang="en-IN" smtClean="0"/>
              <a:pPr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F1A3E-45E2-4BC4-A967-10C2A26EC8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9C3C5-6E2A-4488-873C-EFA25B1B8B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F8237-8936-4B21-B732-F71E793CDE0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060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A3C3-28AA-4434-ACAB-C9A2260D184B}" type="datetimeFigureOut">
              <a:rPr lang="en-IN" smtClean="0"/>
              <a:pPr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ECE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696A9-2D74-4675-8CBB-A869D0628A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6573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32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91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9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4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68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38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4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IN"/>
              <a:t>20-10-2020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A338792-157D-4275-B9A3-9326D62F514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75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D4AA55-2D38-4D5F-8C67-1FDFADC39B88}"/>
              </a:ext>
            </a:extLst>
          </p:cNvPr>
          <p:cNvSpPr txBox="1"/>
          <p:nvPr/>
        </p:nvSpPr>
        <p:spPr>
          <a:xfrm>
            <a:off x="4819824" y="4358752"/>
            <a:ext cx="189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No:12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2BADF-AA13-4A5B-ABF5-117B0AADB9C4}"/>
              </a:ext>
            </a:extLst>
          </p:cNvPr>
          <p:cNvSpPr txBox="1"/>
          <p:nvPr/>
        </p:nvSpPr>
        <p:spPr>
          <a:xfrm>
            <a:off x="2454049" y="511276"/>
            <a:ext cx="7446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400" b="1" dirty="0">
              <a:solidFill>
                <a:srgbClr val="003399"/>
              </a:solidFill>
              <a:latin typeface="English111 Vivace BT" panose="03030702030607090B03" pitchFamily="66" charset="2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9CC90-A061-4A62-9182-E567D0C77A0F}"/>
              </a:ext>
            </a:extLst>
          </p:cNvPr>
          <p:cNvSpPr txBox="1"/>
          <p:nvPr/>
        </p:nvSpPr>
        <p:spPr>
          <a:xfrm>
            <a:off x="2764060" y="1988139"/>
            <a:ext cx="64633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5306A1-0818-46B7-AE90-9D2D1B1A9AEA}"/>
              </a:ext>
            </a:extLst>
          </p:cNvPr>
          <p:cNvSpPr txBox="1"/>
          <p:nvPr/>
        </p:nvSpPr>
        <p:spPr>
          <a:xfrm>
            <a:off x="7466971" y="4852317"/>
            <a:ext cx="32374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Poorvika MR       :1BG23EC078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Mouli GN:1BG23EC100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Keerthana         :1BG23EC116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9A5A77-B564-4F0C-984C-7CEC06A7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291" y="398244"/>
            <a:ext cx="7219950" cy="7524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6E466-DDAD-4478-AB91-8F3792EF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200" dirty="0"/>
              <a:t>2023-24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DAEF5-2170-4568-BA4B-287DBCBC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5813" y="6478791"/>
            <a:ext cx="4822804" cy="365125"/>
          </a:xfrm>
        </p:spPr>
        <p:txBody>
          <a:bodyPr/>
          <a:lstStyle/>
          <a:p>
            <a:r>
              <a:rPr lang="en-GB" sz="1200" dirty="0"/>
              <a:t>Dept of </a:t>
            </a:r>
            <a:r>
              <a:rPr lang="en-GB" sz="1200" dirty="0" err="1"/>
              <a:t>ece</a:t>
            </a:r>
            <a:r>
              <a:rPr lang="en-GB" sz="1200" dirty="0"/>
              <a:t>, </a:t>
            </a:r>
            <a:r>
              <a:rPr lang="en-GB" sz="1200" dirty="0" err="1"/>
              <a:t>bnmit</a:t>
            </a:r>
            <a:endParaRPr lang="en-IN" sz="12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BC8365-A24D-421F-A09B-356D93EC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z="1400" smtClean="0"/>
              <a:pPr/>
              <a:t>1</a:t>
            </a:fld>
            <a:endParaRPr lang="en-IN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584C0F-99AD-41EC-909B-7DA4391F7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40" y="216825"/>
            <a:ext cx="1480109" cy="143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A36EB0-72D4-3FBB-3E9A-B3599069EAC7}"/>
              </a:ext>
            </a:extLst>
          </p:cNvPr>
          <p:cNvSpPr txBox="1"/>
          <p:nvPr/>
        </p:nvSpPr>
        <p:spPr>
          <a:xfrm>
            <a:off x="825910" y="1978492"/>
            <a:ext cx="10255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Artificial Intelligence and Machine Learning Applications                              </a:t>
            </a:r>
          </a:p>
          <a:p>
            <a:pPr algn="ctr"/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23ECE155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0306A-E844-D7C2-A076-16444FC48AD5}"/>
              </a:ext>
            </a:extLst>
          </p:cNvPr>
          <p:cNvSpPr txBox="1"/>
          <p:nvPr/>
        </p:nvSpPr>
        <p:spPr>
          <a:xfrm>
            <a:off x="2738617" y="3206714"/>
            <a:ext cx="6181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Vitamin deficiency and Disease through Facial Analysis using SVM algorithm in MATLAB</a:t>
            </a:r>
          </a:p>
        </p:txBody>
      </p:sp>
    </p:spTree>
    <p:extLst>
      <p:ext uri="{BB962C8B-B14F-4D97-AF65-F5344CB8AC3E}">
        <p14:creationId xmlns:p14="http://schemas.microsoft.com/office/powerpoint/2010/main" val="14655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3053F-3646-7CDF-4553-766E5829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1BC7B-B191-35AD-CFF5-F581BDA6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E6E1-B611-12BD-4875-2B43078C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42623-4D1D-2252-0007-DF948B2B2C23}"/>
              </a:ext>
            </a:extLst>
          </p:cNvPr>
          <p:cNvSpPr txBox="1"/>
          <p:nvPr/>
        </p:nvSpPr>
        <p:spPr>
          <a:xfrm>
            <a:off x="606489" y="382546"/>
            <a:ext cx="448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Introduction</a:t>
            </a:r>
            <a:endParaRPr lang="en-IN" sz="2800" dirty="0"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535F7-EECF-5398-4965-DC83002E155F}"/>
              </a:ext>
            </a:extLst>
          </p:cNvPr>
          <p:cNvSpPr txBox="1"/>
          <p:nvPr/>
        </p:nvSpPr>
        <p:spPr>
          <a:xfrm>
            <a:off x="597158" y="1026360"/>
            <a:ext cx="74551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Our project focuses on detecting vitamin deficiencies through facial analysis using machine learning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aims to provide a non-</a:t>
            </a:r>
            <a:r>
              <a:rPr lang="en-US" sz="2000" dirty="0" err="1"/>
              <a:t>invasive,quick,and</a:t>
            </a:r>
            <a:r>
              <a:rPr lang="en-US" sz="2000" dirty="0"/>
              <a:t> affordable method for identifying nutritional imbalances from facial features.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system analyzes visible facial symptoms like skin </a:t>
            </a:r>
            <a:r>
              <a:rPr lang="en-US" sz="2000" dirty="0" err="1"/>
              <a:t>tone,lips,and</a:t>
            </a:r>
            <a:r>
              <a:rPr lang="en-US" sz="2000" dirty="0"/>
              <a:t> eyes to predict specific vitamin deficiencies accurately.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BFD0F-3CB4-2D33-5C4E-DA03C6FC27B8}"/>
              </a:ext>
            </a:extLst>
          </p:cNvPr>
          <p:cNvSpPr txBox="1"/>
          <p:nvPr/>
        </p:nvSpPr>
        <p:spPr>
          <a:xfrm>
            <a:off x="643809" y="3172393"/>
            <a:ext cx="2949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Motivation</a:t>
            </a:r>
            <a:endParaRPr lang="en-IN" sz="2800" dirty="0">
              <a:latin typeface="Century" panose="020406040505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F1D45-8A7F-5029-2D39-1F6F41ADBD60}"/>
              </a:ext>
            </a:extLst>
          </p:cNvPr>
          <p:cNvSpPr txBox="1"/>
          <p:nvPr/>
        </p:nvSpPr>
        <p:spPr>
          <a:xfrm>
            <a:off x="643809" y="3816200"/>
            <a:ext cx="73898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Many people suffer from vitamin deficiencies without realizing it until serious health problems appear.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Traditional tests for detecting deficiencies are often costly, time-consuming, and invasive.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By using facial analysis, we can create a quick and contactless method to detect possible vitamin shortages.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Our project is motivated by the goal to make early health detection easier and more accessible to everyone.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FCA6D1-FB5F-8290-7174-E59A224C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84" y="1408922"/>
            <a:ext cx="3713586" cy="390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5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5E67F08-DE53-4B62-820B-A684911EE6B4}"/>
              </a:ext>
            </a:extLst>
          </p:cNvPr>
          <p:cNvSpPr txBox="1"/>
          <p:nvPr/>
        </p:nvSpPr>
        <p:spPr>
          <a:xfrm>
            <a:off x="2621902" y="158408"/>
            <a:ext cx="5355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Vitamin deficiency and disease through Facial Analysis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23B42-AC41-4BC7-AC7A-8EADA64F1CF9}"/>
              </a:ext>
            </a:extLst>
          </p:cNvPr>
          <p:cNvSpPr txBox="1"/>
          <p:nvPr/>
        </p:nvSpPr>
        <p:spPr>
          <a:xfrm>
            <a:off x="2916458" y="804235"/>
            <a:ext cx="52222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entury" panose="02040604050505020304" pitchFamily="18" charset="0"/>
              </a:rPr>
              <a:t>Objectives </a:t>
            </a:r>
            <a:endParaRPr lang="en-GB" dirty="0">
              <a:latin typeface="Century" panose="020406040505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>
              <a:latin typeface="Century" panose="020406040505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631D9-CD3D-4550-8366-B8DBCED5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2023-24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693D7-7951-4B6B-8281-36C36769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9551" y="6444872"/>
            <a:ext cx="4822804" cy="365125"/>
          </a:xfrm>
        </p:spPr>
        <p:txBody>
          <a:bodyPr/>
          <a:lstStyle/>
          <a:p>
            <a:r>
              <a:rPr lang="en-GB" dirty="0"/>
              <a:t>Dept of </a:t>
            </a:r>
            <a:r>
              <a:rPr lang="en-GB" dirty="0" err="1"/>
              <a:t>ece</a:t>
            </a:r>
            <a:r>
              <a:rPr lang="en-GB" dirty="0"/>
              <a:t>, </a:t>
            </a:r>
            <a:r>
              <a:rPr lang="en-GB" dirty="0" err="1"/>
              <a:t>bnmit</a:t>
            </a:r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1E8FB-A210-482B-AC7B-23D060E4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FFBCD-5582-8FAA-FF43-6FEE379EC9F7}"/>
              </a:ext>
            </a:extLst>
          </p:cNvPr>
          <p:cNvSpPr txBox="1"/>
          <p:nvPr/>
        </p:nvSpPr>
        <p:spPr>
          <a:xfrm>
            <a:off x="1436914" y="1912770"/>
            <a:ext cx="92839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detect vitamin deficiencies and diseases using facial image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develop a system that can analyze facial features automatically.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use image processing and machine learning for early health prediction.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provide a non-invasive and cost-effective method for health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improve awareness and promote preventive healthcare using technology.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5529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E332B0-C15A-9251-A9C0-FDAD4FF5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2023-24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4FA34-45BF-C58E-D7D5-C47F7BD7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Dept of </a:t>
            </a:r>
            <a:r>
              <a:rPr lang="en-GB" dirty="0" err="1"/>
              <a:t>ece</a:t>
            </a:r>
            <a:r>
              <a:rPr lang="en-GB" dirty="0"/>
              <a:t>, </a:t>
            </a:r>
            <a:r>
              <a:rPr lang="en-GB" dirty="0" err="1"/>
              <a:t>bnmit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5AC45-F870-6213-4718-F1B80610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8E49-3FBF-BCD9-7E9A-CCCDAFD1FCC7}"/>
              </a:ext>
            </a:extLst>
          </p:cNvPr>
          <p:cNvSpPr txBox="1"/>
          <p:nvPr/>
        </p:nvSpPr>
        <p:spPr>
          <a:xfrm>
            <a:off x="575584" y="317741"/>
            <a:ext cx="9507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Literature Survey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A13B2-8781-1699-E324-7642CDB0A41B}"/>
              </a:ext>
            </a:extLst>
          </p:cNvPr>
          <p:cNvSpPr txBox="1"/>
          <p:nvPr/>
        </p:nvSpPr>
        <p:spPr>
          <a:xfrm>
            <a:off x="3418346" y="158408"/>
            <a:ext cx="5112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Vitamin deficiency and disease through Facial Analysis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70B661-46E5-A809-74B1-9765F6B1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13769"/>
              </p:ext>
            </p:extLst>
          </p:nvPr>
        </p:nvGraphicFramePr>
        <p:xfrm>
          <a:off x="158620" y="906985"/>
          <a:ext cx="11840548" cy="537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650">
                  <a:extLst>
                    <a:ext uri="{9D8B030D-6E8A-4147-A177-3AD203B41FA5}">
                      <a16:colId xmlns:a16="http://schemas.microsoft.com/office/drawing/2014/main" val="3658938734"/>
                    </a:ext>
                  </a:extLst>
                </a:gridCol>
                <a:gridCol w="1974980">
                  <a:extLst>
                    <a:ext uri="{9D8B030D-6E8A-4147-A177-3AD203B41FA5}">
                      <a16:colId xmlns:a16="http://schemas.microsoft.com/office/drawing/2014/main" val="3994901034"/>
                    </a:ext>
                  </a:extLst>
                </a:gridCol>
                <a:gridCol w="2195163">
                  <a:extLst>
                    <a:ext uri="{9D8B030D-6E8A-4147-A177-3AD203B41FA5}">
                      <a16:colId xmlns:a16="http://schemas.microsoft.com/office/drawing/2014/main" val="3095983913"/>
                    </a:ext>
                  </a:extLst>
                </a:gridCol>
                <a:gridCol w="1754795">
                  <a:extLst>
                    <a:ext uri="{9D8B030D-6E8A-4147-A177-3AD203B41FA5}">
                      <a16:colId xmlns:a16="http://schemas.microsoft.com/office/drawing/2014/main" val="1724351924"/>
                    </a:ext>
                  </a:extLst>
                </a:gridCol>
                <a:gridCol w="1974980">
                  <a:extLst>
                    <a:ext uri="{9D8B030D-6E8A-4147-A177-3AD203B41FA5}">
                      <a16:colId xmlns:a16="http://schemas.microsoft.com/office/drawing/2014/main" val="2560344867"/>
                    </a:ext>
                  </a:extLst>
                </a:gridCol>
                <a:gridCol w="1974980">
                  <a:extLst>
                    <a:ext uri="{9D8B030D-6E8A-4147-A177-3AD203B41FA5}">
                      <a16:colId xmlns:a16="http://schemas.microsoft.com/office/drawing/2014/main" val="2173634147"/>
                    </a:ext>
                  </a:extLst>
                </a:gridCol>
              </a:tblGrid>
              <a:tr h="623232">
                <a:tc>
                  <a:txBody>
                    <a:bodyPr/>
                    <a:lstStyle/>
                    <a:p>
                      <a:r>
                        <a:rPr lang="en-US" sz="1400" dirty="0"/>
                        <a:t>Title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Authors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 of Journal/conference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Publication Year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Main Findings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Points for future scope from the paper.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79967"/>
                  </a:ext>
                </a:extLst>
              </a:tr>
              <a:tr h="1234154">
                <a:tc>
                  <a:txBody>
                    <a:bodyPr/>
                    <a:lstStyle/>
                    <a:p>
                      <a:r>
                        <a:rPr lang="en-US" sz="1400" dirty="0"/>
                        <a:t>Assessment of Skin Carotenoid Measurement as a Means to Detect Vitamin A Deficiency in Children and Pregnant Women of Nepal.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Raba Thapa; Emmanuel K Addo; </a:t>
                      </a:r>
                      <a:r>
                        <a:rPr lang="en-US" sz="1400" dirty="0" err="1"/>
                        <a:t>Sanduk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Ruit</a:t>
                      </a:r>
                      <a:r>
                        <a:rPr lang="en-US" sz="1400" dirty="0"/>
                        <a:t>; Paul S Bernstein.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The Journal of Nutrition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Skin carotenoid scores (via Veggie Meter) correlate with serum retinol; </a:t>
                      </a:r>
                      <a:r>
                        <a:rPr lang="en-IN" sz="1400" dirty="0" err="1"/>
                        <a:t>noninvasive</a:t>
                      </a:r>
                      <a:r>
                        <a:rPr lang="en-IN" sz="1400" dirty="0"/>
                        <a:t> tool shows moderate sensitivity/specificity for detecting vitamin A deficiency.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Future work can combine facial imaging with carotenoid sensors and AI models for more accurate and accessible Vitamin A deficiency detection.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551520"/>
                  </a:ext>
                </a:extLst>
              </a:tr>
              <a:tr h="1234154">
                <a:tc>
                  <a:txBody>
                    <a:bodyPr/>
                    <a:lstStyle/>
                    <a:p>
                      <a:r>
                        <a:rPr lang="en-US" sz="1400" dirty="0"/>
                        <a:t>Machine Learning Approach for the Detection of Vitamin D Level: A Comparative Study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N. </a:t>
                      </a:r>
                      <a:r>
                        <a:rPr lang="fr-FR" sz="1400" dirty="0" err="1"/>
                        <a:t>Sancar</a:t>
                      </a:r>
                      <a:r>
                        <a:rPr lang="fr-FR" sz="1400" dirty="0"/>
                        <a:t>, S. S. </a:t>
                      </a:r>
                      <a:r>
                        <a:rPr lang="fr-FR" sz="1400" dirty="0" err="1"/>
                        <a:t>Tabrizi</a:t>
                      </a:r>
                      <a:r>
                        <a:rPr lang="fr-FR" sz="1400" dirty="0"/>
                        <a:t> et al.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BMC Medical Informatics and Decision Making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Compared ML algorithms for predicting Vitamin D levels; achieved good accuracy using patient data.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Integration with image-based features (like facial tone or texture) could improve detection and make screening faster and non-invasive.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99025"/>
                  </a:ext>
                </a:extLst>
              </a:tr>
              <a:tr h="1234154">
                <a:tc>
                  <a:txBody>
                    <a:bodyPr/>
                    <a:lstStyle/>
                    <a:p>
                      <a:r>
                        <a:rPr lang="en-US" sz="1400" dirty="0"/>
                        <a:t>Vitamin Deficiencies and Their Impact on Skin Function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Salman Bin </a:t>
                      </a:r>
                      <a:r>
                        <a:rPr lang="en-IN" sz="1400" dirty="0" err="1"/>
                        <a:t>Dayel</a:t>
                      </a:r>
                      <a:r>
                        <a:rPr lang="en-IN" sz="1400" dirty="0"/>
                        <a:t>, Ramadan S. Hussein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International Journal of Biomedicine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Reviewed how deficiencies in Vitamins A, B, C, and D affect visible skin features such as texture and pigmentation.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Future studies can use these skin-based indicators for automated vitamin deficiency detection using facial analysis tools.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707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8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9317B-C367-C9D3-0C58-C5E7906E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00FDB-EA06-84E3-CB6F-C6A9E877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04008-B965-4C2D-5078-760747C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0D0DE-CA02-1DDB-32B3-973C2B09AC1C}"/>
              </a:ext>
            </a:extLst>
          </p:cNvPr>
          <p:cNvSpPr txBox="1"/>
          <p:nvPr/>
        </p:nvSpPr>
        <p:spPr>
          <a:xfrm>
            <a:off x="4509785" y="519855"/>
            <a:ext cx="3851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Flow Diagram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745A-6AD5-78CF-FF48-B503BF2D7B4A}"/>
              </a:ext>
            </a:extLst>
          </p:cNvPr>
          <p:cNvSpPr txBox="1"/>
          <p:nvPr/>
        </p:nvSpPr>
        <p:spPr>
          <a:xfrm>
            <a:off x="606494" y="1688841"/>
            <a:ext cx="10820597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87FFAB-7C4F-F04F-5A71-13D51AA13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95" y="1406057"/>
            <a:ext cx="8416212" cy="462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7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5DF69-0080-DBBF-49D8-A6A69803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8D4AC-A32D-942E-AED6-509BCBD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CCA5A-E13B-9FE9-D486-FC500DAD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A35BE-2480-1839-317F-65A067EF9F92}"/>
              </a:ext>
            </a:extLst>
          </p:cNvPr>
          <p:cNvSpPr txBox="1"/>
          <p:nvPr/>
        </p:nvSpPr>
        <p:spPr>
          <a:xfrm>
            <a:off x="1609741" y="685800"/>
            <a:ext cx="5621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FAA60-EDA8-A36F-EC51-B3F7470F68EB}"/>
              </a:ext>
            </a:extLst>
          </p:cNvPr>
          <p:cNvSpPr txBox="1"/>
          <p:nvPr/>
        </p:nvSpPr>
        <p:spPr>
          <a:xfrm>
            <a:off x="1324947" y="1744824"/>
            <a:ext cx="8724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Resolution of the Pixel : 691*1536 pixels</a:t>
            </a:r>
          </a:p>
          <a:p>
            <a:pPr algn="just"/>
            <a:r>
              <a:rPr lang="en-US" sz="2000" dirty="0"/>
              <a:t>Aspect ratio : Approximately 9:20 (portrait orientation)</a:t>
            </a:r>
          </a:p>
          <a:p>
            <a:pPr algn="just"/>
            <a:r>
              <a:rPr lang="en-US" sz="2000" dirty="0"/>
              <a:t>File type : Screenshot(likely PNG or JPEG ,typical of phone screenshots)</a:t>
            </a:r>
          </a:p>
          <a:p>
            <a:pPr algn="just"/>
            <a:r>
              <a:rPr lang="en-US" sz="2000" dirty="0"/>
              <a:t>Captured form : A mobile device (based on the interface shown)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8730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AEEBF-B5A9-ACE6-9081-B0E6F339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F3195-2145-FC84-B662-B6BECFD1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6AA6-ACEF-BE9F-376B-3364E63D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0CDD5-1C03-3C17-4CBD-36C77D034683}"/>
              </a:ext>
            </a:extLst>
          </p:cNvPr>
          <p:cNvSpPr txBox="1"/>
          <p:nvPr/>
        </p:nvSpPr>
        <p:spPr>
          <a:xfrm>
            <a:off x="800099" y="631508"/>
            <a:ext cx="10785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FA34D-4756-F961-0206-26A25B814A59}"/>
              </a:ext>
            </a:extLst>
          </p:cNvPr>
          <p:cNvSpPr txBox="1"/>
          <p:nvPr/>
        </p:nvSpPr>
        <p:spPr>
          <a:xfrm>
            <a:off x="800099" y="1558209"/>
            <a:ext cx="103406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SVM is a supervised learning algorithm mainly used for classification and pattern recognition.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SVM is used as the main classification algorithm in our project.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Facial features like color, texture, and pattern are given as input to the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Provides higher accuracy for classification tasks with clear class boundaries.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Handles non-linear data using kernel functions.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Gives clear decision boundaries, improving reliability in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SVM models are memory-efficient because they use only a subset of training points called support vectors.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SVM avoids overfitting better than Decision Trees, ensuring reliable predictions on new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Less sensitive to noise and outliers compared to KNN and Neural Networks.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130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07C47-C85B-0CF5-AA44-6487188C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0E28B-942E-D782-7133-EB675F5F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85D9E-67B6-449C-55E5-DD03D489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01F2F-197B-1804-C969-BC0CAD108BEE}"/>
              </a:ext>
            </a:extLst>
          </p:cNvPr>
          <p:cNvSpPr txBox="1"/>
          <p:nvPr/>
        </p:nvSpPr>
        <p:spPr>
          <a:xfrm>
            <a:off x="3633377" y="495820"/>
            <a:ext cx="3439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Results 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F882F-7BC0-3EB4-9E66-DD1B6348D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739" y="1710320"/>
            <a:ext cx="2946335" cy="3087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4DBA5A-67C0-8A5E-7D3E-1D13A3AB9252}"/>
              </a:ext>
            </a:extLst>
          </p:cNvPr>
          <p:cNvSpPr txBox="1"/>
          <p:nvPr/>
        </p:nvSpPr>
        <p:spPr>
          <a:xfrm>
            <a:off x="485191" y="1408926"/>
            <a:ext cx="80989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system successfully detects vitamin deficiencies and related diseases using facial image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SVM classifier achieved high accuracy in identifying facial features linked to different vitamin levels.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Facial features such as skin tone, texture, and eye appearance showed strong correlation with health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trained SVM model provided consistent and reliable predictions across various test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system demonstrates potential for real-world health screening applications using AI.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482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E399E-67F3-2E14-C6EC-424E49D4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20-10-2020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EBF8B-16E9-581E-7892-2BF30120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74390-BAA8-6648-4AB3-1A337BCE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7DC9A-16ED-663E-9D4A-FC4584311CAE}"/>
              </a:ext>
            </a:extLst>
          </p:cNvPr>
          <p:cNvSpPr txBox="1"/>
          <p:nvPr/>
        </p:nvSpPr>
        <p:spPr>
          <a:xfrm>
            <a:off x="1210507" y="802741"/>
            <a:ext cx="3766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349CF-79B4-AD3F-5C10-AEE419756914}"/>
              </a:ext>
            </a:extLst>
          </p:cNvPr>
          <p:cNvSpPr txBox="1"/>
          <p:nvPr/>
        </p:nvSpPr>
        <p:spPr>
          <a:xfrm>
            <a:off x="1042553" y="1642188"/>
            <a:ext cx="103314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Our project successfully detects both vitamin deficiencies and related diseases using facial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It provides a non-invasive, fast, and cost-effective method for early health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system uses image processing and machine learning to analyze facial features accurately.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It helps in early diagnosis, which can improve treatment and health awareness.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Overall, the project shows that facial features can reflect internal health conditions effectively.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579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77CC0-29C7-4776-913C-37B6868F0E97}"/>
              </a:ext>
            </a:extLst>
          </p:cNvPr>
          <p:cNvSpPr txBox="1"/>
          <p:nvPr/>
        </p:nvSpPr>
        <p:spPr>
          <a:xfrm>
            <a:off x="4294866" y="276733"/>
            <a:ext cx="36022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FDAA65-28B3-407F-8921-D4C714325E29}"/>
              </a:ext>
            </a:extLst>
          </p:cNvPr>
          <p:cNvCxnSpPr/>
          <p:nvPr/>
        </p:nvCxnSpPr>
        <p:spPr>
          <a:xfrm>
            <a:off x="4449192" y="1235237"/>
            <a:ext cx="329361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1E73DF-4E4C-4BD6-B3A0-D8EB51E3D86F}"/>
              </a:ext>
            </a:extLst>
          </p:cNvPr>
          <p:cNvSpPr txBox="1"/>
          <p:nvPr/>
        </p:nvSpPr>
        <p:spPr>
          <a:xfrm>
            <a:off x="5135768" y="106300"/>
            <a:ext cx="1253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itle</a:t>
            </a:r>
            <a:r>
              <a:rPr lang="en-IN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project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06742-D6E3-423C-9825-CD312145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2023-24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35925-746E-49B5-B1F9-786CEE3E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5840" y="6492875"/>
            <a:ext cx="4822804" cy="365125"/>
          </a:xfrm>
        </p:spPr>
        <p:txBody>
          <a:bodyPr/>
          <a:lstStyle/>
          <a:p>
            <a:r>
              <a:rPr lang="en-GB" dirty="0"/>
              <a:t>Dept of </a:t>
            </a:r>
            <a:r>
              <a:rPr lang="en-GB" dirty="0" err="1"/>
              <a:t>ece</a:t>
            </a:r>
            <a:r>
              <a:rPr lang="en-GB" dirty="0"/>
              <a:t>, </a:t>
            </a:r>
            <a:r>
              <a:rPr lang="en-GB" dirty="0" err="1"/>
              <a:t>bnmit</a:t>
            </a:r>
            <a:endParaRPr lang="en-IN" dirty="0"/>
          </a:p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A54E34-45DF-4F2B-AA55-926FA660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3957B-46A3-DCCA-04DD-30AAC4089010}"/>
              </a:ext>
            </a:extLst>
          </p:cNvPr>
          <p:cNvSpPr txBox="1"/>
          <p:nvPr/>
        </p:nvSpPr>
        <p:spPr>
          <a:xfrm>
            <a:off x="983226" y="1613190"/>
            <a:ext cx="98814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[1].</a:t>
            </a:r>
            <a:r>
              <a:rPr lang="en-IN" dirty="0"/>
              <a:t>L. Wang, D. Chen, and E. Rodriguez, “An Ensemble Approach for Improved Vitamin Deficiency Detection in Clinical Images,” IEEE Access, vol. 8, pp. 14496–14505, 2023.</a:t>
            </a:r>
          </a:p>
          <a:p>
            <a:pPr algn="just"/>
            <a:r>
              <a:rPr lang="en-IN" dirty="0"/>
              <a:t>doi: [10.1109/ACCESS.2023.XXXXXXX] (Replace with actual DOI if available)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[2].</a:t>
            </a:r>
            <a:r>
              <a:rPr lang="en-IN" dirty="0"/>
              <a:t>S. Janokar, N. Somani, P. Solanki, S. Solanke, A. Solunke, and I. Soman, “Vitamin Deficiency Detection Using Image Processing through Dermatological Symptoms,” in Proc. IEEE Int. Conf. on Affective Computing &amp; Social Intelligence Applications (ICISAIA), Oct. 2024.</a:t>
            </a:r>
          </a:p>
          <a:p>
            <a:pPr algn="just"/>
            <a:r>
              <a:rPr lang="en-IN" dirty="0"/>
              <a:t> doi: 10.1109/icisaa62385.2024.10828939</a:t>
            </a:r>
          </a:p>
          <a:p>
            <a:pPr lvl="0"/>
            <a:r>
              <a:rPr lang="en-IN" dirty="0"/>
              <a:t>[3].A. S. Eldeen, M. A. Gacem, S. Alghlayini, W. Shehieb, and M. Mir, “Vitamin Deficiency Detection Using Image Processing and Neural Network,” in Proc. IEEE ASET Conf., pp. 1–6, 2020.</a:t>
            </a:r>
            <a:r>
              <a:rPr lang="en-US" dirty="0"/>
              <a:t>           </a:t>
            </a:r>
            <a:endParaRPr lang="en-IN" dirty="0"/>
          </a:p>
          <a:p>
            <a:r>
              <a:rPr lang="en-IN" dirty="0"/>
              <a:t>doi: 10.1109/ASET48392.2020.9118303</a:t>
            </a:r>
          </a:p>
          <a:p>
            <a:pPr algn="just"/>
            <a:r>
              <a:rPr lang="en-IN" dirty="0"/>
              <a:t>[4].G. </a:t>
            </a:r>
            <a:r>
              <a:rPr lang="en-IN" dirty="0" err="1"/>
              <a:t>Sambasivam</a:t>
            </a:r>
            <a:r>
              <a:rPr lang="en-IN" dirty="0"/>
              <a:t>, J. </a:t>
            </a:r>
            <a:r>
              <a:rPr lang="en-IN" dirty="0" err="1"/>
              <a:t>Amudhavel</a:t>
            </a:r>
            <a:r>
              <a:rPr lang="en-IN" dirty="0"/>
              <a:t>, and G. Sathya, “A Predictive Performance Analysis of Vitamin D Deficiency Severity Using Machine Learning Methods,” IEEE Access, vol. 8, pp. 109492–109507, 2020. High accuracy classification using RF, boosting, SVM on demographic and </a:t>
            </a:r>
            <a:r>
              <a:rPr lang="en-US" dirty="0"/>
              <a:t>clinical features—foundation for vitamin D ML-based prediction. HBRP </a:t>
            </a:r>
            <a:r>
              <a:rPr lang="en-US" dirty="0" err="1"/>
              <a:t>PublicationMDPI</a:t>
            </a:r>
            <a:r>
              <a:rPr lang="en-US" dirty="0"/>
              <a:t>.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05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">
            <a:extLst>
              <a:ext uri="{FF2B5EF4-FFF2-40B4-BE49-F238E27FC236}">
                <a16:creationId xmlns:a16="http://schemas.microsoft.com/office/drawing/2014/main" id="{FF2A9297-83D2-4458-B3F7-13726EF5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52" y="2568306"/>
            <a:ext cx="11143696" cy="3871738"/>
          </a:xfrm>
        </p:spPr>
        <p:txBody>
          <a:bodyPr>
            <a:noAutofit/>
          </a:bodyPr>
          <a:lstStyle/>
          <a:p>
            <a:pPr algn="ctr"/>
            <a:r>
              <a:rPr lang="en-IN" sz="10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sz="13000" dirty="0"/>
            </a:br>
            <a:endParaRPr lang="en-IN" sz="13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26580-6208-4D80-B8B3-1D07E0A1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900" dirty="0"/>
              <a:t>2023-24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E6FC0-4920-43CC-8562-9617D358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406" y="6492875"/>
            <a:ext cx="4822804" cy="365125"/>
          </a:xfrm>
        </p:spPr>
        <p:txBody>
          <a:bodyPr/>
          <a:lstStyle/>
          <a:p>
            <a:r>
              <a:rPr lang="en-GB" dirty="0"/>
              <a:t>Dept of </a:t>
            </a:r>
            <a:r>
              <a:rPr lang="en-GB" dirty="0" err="1"/>
              <a:t>ece</a:t>
            </a:r>
            <a:r>
              <a:rPr lang="en-GB" dirty="0"/>
              <a:t>, </a:t>
            </a:r>
            <a:r>
              <a:rPr lang="en-GB" dirty="0" err="1"/>
              <a:t>bnmit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8DB99-B8F3-4D24-918F-F328F9D3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8792-157D-4275-B9A3-9326D62F514A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110864-E303-434C-B246-13B0AE38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7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1107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Century</vt:lpstr>
      <vt:lpstr>English111 Vivace BT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Stree Raksha: Safety Gadget for Women</dc:title>
  <dc:creator>Inchara</dc:creator>
  <cp:lastModifiedBy>keerthanatavvi@outlook.com</cp:lastModifiedBy>
  <cp:revision>244</cp:revision>
  <dcterms:created xsi:type="dcterms:W3CDTF">2019-09-10T08:19:56Z</dcterms:created>
  <dcterms:modified xsi:type="dcterms:W3CDTF">2025-11-06T06:01:48Z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Alankritha_T_v@Dell.com</vt:lpwstr>
  </property>
  <property fmtid="{D5CDD505-2E9C-101B-9397-08002B2CF9AE}" pid="5" name="MSIP_Label_7de70ee2-0cb4-4d60-aee5-75ef2c4c8a90_SetDate">
    <vt:lpwstr>2020-04-22T05:12:00.1932508Z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c6e0e3e8-8921-4906-b77b-3374d4e05132_Enabled">
    <vt:lpwstr>True</vt:lpwstr>
  </property>
  <property fmtid="{D5CDD505-2E9C-101B-9397-08002B2CF9AE}" pid="10" name="MSIP_Label_c6e0e3e8-8921-4906-b77b-3374d4e05132_SiteId">
    <vt:lpwstr>945c199a-83a2-4e80-9f8c-5a91be5752dd</vt:lpwstr>
  </property>
  <property fmtid="{D5CDD505-2E9C-101B-9397-08002B2CF9AE}" pid="11" name="MSIP_Label_c6e0e3e8-8921-4906-b77b-3374d4e05132_Owner">
    <vt:lpwstr>Alankritha_T_v@Dell.com</vt:lpwstr>
  </property>
  <property fmtid="{D5CDD505-2E9C-101B-9397-08002B2CF9AE}" pid="12" name="MSIP_Label_c6e0e3e8-8921-4906-b77b-3374d4e05132_SetDate">
    <vt:lpwstr>2020-04-22T05:12:00.1932508Z</vt:lpwstr>
  </property>
  <property fmtid="{D5CDD505-2E9C-101B-9397-08002B2CF9AE}" pid="13" name="MSIP_Label_c6e0e3e8-8921-4906-b77b-3374d4e05132_Name">
    <vt:lpwstr>No Visual Marking</vt:lpwstr>
  </property>
  <property fmtid="{D5CDD505-2E9C-101B-9397-08002B2CF9AE}" pid="14" name="MSIP_Label_c6e0e3e8-8921-4906-b77b-3374d4e05132_Application">
    <vt:lpwstr>Microsoft Azure Information Protection</vt:lpwstr>
  </property>
  <property fmtid="{D5CDD505-2E9C-101B-9397-08002B2CF9AE}" pid="15" name="MSIP_Label_c6e0e3e8-8921-4906-b77b-3374d4e05132_Parent">
    <vt:lpwstr>7de70ee2-0cb4-4d60-aee5-75ef2c4c8a90</vt:lpwstr>
  </property>
  <property fmtid="{D5CDD505-2E9C-101B-9397-08002B2CF9AE}" pid="16" name="MSIP_Label_c6e0e3e8-8921-4906-b77b-3374d4e05132_Extended_MSFT_Method">
    <vt:lpwstr>Manual</vt:lpwstr>
  </property>
  <property fmtid="{D5CDD505-2E9C-101B-9397-08002B2CF9AE}" pid="17" name="aiplabel">
    <vt:lpwstr>Internal Use No Visual Marking</vt:lpwstr>
  </property>
</Properties>
</file>